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adfc251b104aca" /><Relationship Type="http://schemas.openxmlformats.org/officeDocument/2006/relationships/extended-properties" Target="/docProps/app.xml" Id="R133a40ead4f14aa6" /><Relationship Type="http://schemas.openxmlformats.org/officeDocument/2006/relationships/officeDocument" Target="/ppt/presentation.xml" Id="R0a0e07964a764b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fc2363b53c4e8c"/>
  </p:sldMasterIdLst>
  <p:notesMasterIdLst>
    <p:notesMasterId xmlns:r="http://schemas.openxmlformats.org/officeDocument/2006/relationships" r:id="R708991deca514656"/>
  </p:notesMasterIdLst>
  <p:sldIdLst>
    <p:sldId xmlns:r="http://schemas.openxmlformats.org/officeDocument/2006/relationships" id="256" r:id="Rdd9692ac1cb74eaf"/>
    <p:sldId xmlns:r="http://schemas.openxmlformats.org/officeDocument/2006/relationships" id="257" r:id="R739ba2f14ee54716"/>
    <p:sldId xmlns:r="http://schemas.openxmlformats.org/officeDocument/2006/relationships" id="258" r:id="Rf26d172d441a4c41"/>
    <p:sldId xmlns:r="http://schemas.openxmlformats.org/officeDocument/2006/relationships" id="259" r:id="Rb2d890e1f8a34bed"/>
    <p:sldId xmlns:r="http://schemas.openxmlformats.org/officeDocument/2006/relationships" id="260" r:id="Rf9cb6a79de1741b0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19419ece2e4b04" /><Relationship Type="http://schemas.openxmlformats.org/officeDocument/2006/relationships/slideMaster" Target="/ppt/slideMasters/slideMaster1.xml" Id="Ra4fc2363b53c4e8c" /><Relationship Type="http://schemas.openxmlformats.org/officeDocument/2006/relationships/notesMaster" Target="/ppt/notesMasters/notesMaster1.xml" Id="R708991deca514656" /><Relationship Type="http://schemas.openxmlformats.org/officeDocument/2006/relationships/presProps" Target="/ppt/presProps.xml" Id="R9c66a964efef4b3b" /><Relationship Type="http://schemas.openxmlformats.org/officeDocument/2006/relationships/viewProps" Target="/ppt/viewProps.xml" Id="R665968125935471a" /><Relationship Type="http://schemas.openxmlformats.org/officeDocument/2006/relationships/tableStyles" Target="/ppt/tableStyles.xml" Id="R4d6a9299d082485c" /><Relationship Type="http://schemas.openxmlformats.org/officeDocument/2006/relationships/slide" Target="/ppt/slides/slide1.xml" Id="Rdd9692ac1cb74eaf" /><Relationship Type="http://schemas.openxmlformats.org/officeDocument/2006/relationships/slide" Target="/ppt/slides/slide2.xml" Id="R739ba2f14ee54716" /><Relationship Type="http://schemas.openxmlformats.org/officeDocument/2006/relationships/slide" Target="/ppt/slides/slide3.xml" Id="Rf26d172d441a4c41" /><Relationship Type="http://schemas.openxmlformats.org/officeDocument/2006/relationships/slide" Target="/ppt/slides/slide4.xml" Id="Rb2d890e1f8a34bed" /><Relationship Type="http://schemas.openxmlformats.org/officeDocument/2006/relationships/slide" Target="/ppt/slides/slide5.xml" Id="Rf9cb6a79de1741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14ebc1545b4a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8346F"/>
      </a:dk2>
      <a:lt2>
        <a:srgbClr val="D9A8D2"/>
      </a:lt2>
      <a:accent1>
        <a:srgbClr val="CE57AB"/>
      </a:accent1>
      <a:accent2>
        <a:srgbClr val="8E8EFD"/>
      </a:accent2>
      <a:accent3>
        <a:srgbClr val="7CBCE0"/>
      </a:accent3>
      <a:accent4>
        <a:srgbClr val="70BF9F"/>
      </a:accent4>
      <a:accent5>
        <a:srgbClr val="A5B960"/>
      </a:accent5>
      <a:accent6>
        <a:srgbClr val="D47A57"/>
      </a:accent6>
      <a:hlink>
        <a:srgbClr val="D164DE"/>
      </a:hlink>
      <a:folHlink>
        <a:srgbClr val="BE87C4"/>
      </a:folHlink>
    </a:clrScheme>
    <a:fontScheme name="Damask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lumMod val="110000"/>
                <a:satMod val="105000"/>
              </a:schemeClr>
            </a:gs>
            <a:gs pos="100000">
              <a:schemeClr val="phClr">
                <a:tint val="78000"/>
                <a:lumMod val="100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4000"/>
                <a:satMod val="100000"/>
              </a:schemeClr>
            </a:gs>
            <a:gs pos="69000">
              <a:schemeClr val="phClr">
                <a:shade val="86000"/>
                <a:lumMod val="102000"/>
                <a:satMod val="130000"/>
              </a:schemeClr>
            </a:gs>
            <a:gs pos="100000">
              <a:schemeClr val="phClr">
                <a:shade val="72000"/>
                <a:lumMod val="100000"/>
                <a:satMod val="13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lt2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1e9ecd08074de5" /><Relationship Type="http://schemas.openxmlformats.org/officeDocument/2006/relationships/notesMaster" Target="/ppt/notesMasters/notesMaster1.xml" Id="R003e80142b534c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c4fce591694914" /><Relationship Type="http://schemas.openxmlformats.org/officeDocument/2006/relationships/notesMaster" Target="/ppt/notesMasters/notesMaster1.xml" Id="R1db0fc1ccaa140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7bf234ae194d9f" /><Relationship Type="http://schemas.openxmlformats.org/officeDocument/2006/relationships/notesMaster" Target="/ppt/notesMasters/notesMaster1.xml" Id="Re8b002c45f7c42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6a63075ef041bc" /><Relationship Type="http://schemas.openxmlformats.org/officeDocument/2006/relationships/notesMaster" Target="/ppt/notesMasters/notesMaster1.xml" Id="R6eea69bae48744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075f2d7e8d4a48" /><Relationship Type="http://schemas.openxmlformats.org/officeDocument/2006/relationships/notesMaster" Target="/ppt/notesMasters/notesMaster1.xml" Id="R179f6699b6ab4c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Проект команды из двух человек. Лабораторная работа 1: концепция и спецификация проекта. Общая длительность выступления до трёх минут.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 исходного проекта сохранена: питание, закупки и бюджет. Пример условный: упаковка 500 г за 100 рублей; для 700 г нужны две упаковки за 200 рублей. Это не рыночная цена и не результат теста.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Сохранён исходный замысел: меню от недели до месяца, вводные пользователя, список, цены онлайн-магазинов и выгодная корзина. Вводные включают цели питания и исключаемые ингредиенты. Учёт следовых аллергенов не гарантируется. Лента, Ашан, Перекрёсток, Пятёрочка и Магнит являются целевыми примерами; доступ к их ценам не проверен. Сначала планируется пилот одного доступного источника; для проверки расчётов возможны ручной ввод и демонстрационные данные. Полная корзина учитывает целые упаковки, запасы, наличие, доставку и минимум заказа. Неизвестная цена не равна нулю. ИИ помогает анализировать и объяснять варианты, числовой расчёт выполняется программно. Рекомендации бытовые, не медицинские. Реализация и парсер пока не созданы. Основная база планируется бесплатной; партнёрские предложения рассматриваются в будущем.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Аудитория уточнена по задаче пользователя, а не только по возрасту. Спрос пока гипотеза: интервью не проводились. Полная стоимость корзины и перерасчёт при замене являются предлагаемым направлением специализации, а не доказанным превосходством над аналогами.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презентацию внесены точечные изменения после исследования с ИИ: конкретная проблема, последовательность действий, полная стоимость корзины, уточнение источников цен и оба участника. Исходное оформление и пять слайдов сохранены. Подробное взаимодействие с ИИ описано в отдельном отчёте.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3c1eaf6ee742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dc00b97f3e4e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293cac9d5c42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e7431735bd4b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92e88d26c442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fbef7ef3b64a2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47e81b3c5e450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3844c97cf416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ec2e8c6ae47f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e06565f4c84f5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b0db9e022a410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a741553551424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9635982fb44d7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6bb62d5bf34c6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7b75b846294a28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73949bd4294b3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ebf973ff194ae4" /></Relationships>
</file>

<file path=ppt/slideLayouts/slideLayout1.xml><?xml version="1.0" encoding="utf-8"?>
<p:sldLayout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247192-3C26-4C2F-B99C-CB35369CD2C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95269" y="1122363"/>
            <a:ext cx="9001462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8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2DADC98-90DB-4F0A-BE32-A73283471C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95269" y="3602038"/>
            <a:ext cx="9001462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Образец подзаголовка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4EE304-F464-4873-B4A5-1EA346B70D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9E13F71-4A0E-4C57-A26A-EDADC63C49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3DCCB92-E252-42CE-A72B-8F6B520130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BF685C-5674-4BDB-A25C-92C02A8951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B6BB56-84F3-40DE-BD6A-ADDD263605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4A66F4-F8E0-4BDB-9EAF-8B592BC4B3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4DBECD7-4F71-4ECB-BC91-2E7FF10BD5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7FE1049-34E5-462E-BF30-F73F7BCA68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4AFD93-608E-46F1-99BC-EB8C8DF41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29244" y="657226"/>
            <a:ext cx="9733512" cy="285273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34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45A07AA-1446-4F7C-A180-F9AE8024EF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29244" y="3602038"/>
            <a:ext cx="9733512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0715957-117B-4009-A9BA-4781C4B516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EA5F7A-05D6-435A-A6DC-14AF920A3F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F86757-CE79-4360-B484-C8D23C5337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9CCD08-13AB-4486-9B99-9177947498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795" y="609600"/>
            <a:ext cx="10353761" cy="132632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BEB80E0-FCDC-4429-B45C-F70095CD87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13795" y="2088319"/>
            <a:ext cx="5106004" cy="37028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5E07777-EF8B-422F-8874-014EDB01842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3403" y="2088319"/>
            <a:ext cx="5094154" cy="370288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235A460-2625-4084-9C52-3516BA50F0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97A566E-AB0D-4FEA-9DC7-8142823706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F171F17-5600-4D3F-A23A-183178DFCA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9B9294A-8713-4449-A221-A63B36336C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795" y="609600"/>
            <a:ext cx="10353761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0D6568A-4115-42BA-90CB-87C5D16BB9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41804" y="2088320"/>
            <a:ext cx="4879199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7E67910-45F0-413D-8830-93C39C97FC1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13795" y="2912232"/>
            <a:ext cx="5107208" cy="28789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41ACF9D-871C-4719-AF15-282494EE156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402003" y="2088320"/>
            <a:ext cx="4865554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736340D-059B-4D6D-AED1-F67B277A71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912232"/>
            <a:ext cx="5095357" cy="28789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844BE17-2C11-4227-9449-49E8B1D751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7E1D4A68-C286-4697-A8C9-FADD4C2B1A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A976E1-0AB5-4729-B45C-3956E84352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531D369-9FC2-4558-BB44-E155D8457E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C0A6A10-B2D8-484D-828F-ACFAA3F15F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E4F2385-427C-4CA2-AD60-C443219EF5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9B42FEE-5A0B-4183-80C0-FA8FB09C7A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B4017D2-4A6E-484F-8EAD-14D1C677E7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6BCC5C7-B2AE-4F64-BA76-E271AD4059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8AA978E-DF74-4BED-AFAC-B0464750D1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F7CE5-B44A-465B-AD3F-3DC6476ACC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7228" y="609600"/>
            <a:ext cx="3932237" cy="2362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BFE93F7-AEA3-4514-AAE7-B28AA9DE38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078064" y="609600"/>
            <a:ext cx="6189492" cy="5181600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1869460-C57B-49F3-BD7F-398E703673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7228" y="2971800"/>
            <a:ext cx="3932237" cy="2819399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1DD79EF-D46B-422B-B47D-82B92279FC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B313D4-892A-405E-BF53-53F4B5F3F1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46BF59F-CC9D-4AE5-A50D-A19F41716E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12DFB25-DBA3-4085-80F6-9D5A3A6338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7227" y="609600"/>
            <a:ext cx="5929773" cy="2362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0EF500B-29F7-43D9-83A7-D9F560864DE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7424804" y="758881"/>
            <a:ext cx="3255356" cy="4883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0" cap="sq">
            <a:solidFill>
              <a:srgbClr val="FFFFFF"/>
            </a:solidFill>
            <a:miter/>
          </a:ln>
          <a:effectLst xmlns:a="http://schemas.openxmlformats.org/drawingml/2006/main"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 anchor="t"/>
          <a:lstStyle xmlns:a="http://schemas.openxmlformats.org/drawingml/2006/main"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Вставка рисунка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FAD1681-A137-4D4C-AB3F-7BB09C7A4CB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3794" y="2971800"/>
            <a:ext cx="5934950" cy="28194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7EE9C52-55DC-45F7-91EA-156B02B132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AA3CA5D-894B-463A-8D5A-7C4FB1010D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7189419-DD28-480E-B19D-4C4217FE39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176F4F-3EA3-419F-AEFE-B363A9E942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806" y="4289372"/>
            <a:ext cx="10367564" cy="81935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4B1E8F1-DEAE-4877-AD10-CE258C4C393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913806" y="621321"/>
            <a:ext cx="10367564" cy="33797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0" cap="sq">
            <a:solidFill>
              <a:srgbClr val="FFFFFF"/>
            </a:solidFill>
            <a:miter/>
          </a:ln>
          <a:effectLst xmlns:a="http://schemas.openxmlformats.org/drawingml/2006/main"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 anchor="t"/>
          <a:lstStyle xmlns:a="http://schemas.openxmlformats.org/drawingml/2006/main"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Вставка рисунка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C4AB555-F6E5-4C26-8C49-25293E6D12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3795" y="5108728"/>
            <a:ext cx="10365998" cy="68247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CE7EF2A-9357-4718-88C3-E7ECC756B0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985BED4-46D1-40C1-ACAE-ACA87CC499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26976E8-D554-4EC4-81CC-93E5B2A527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ABF8EA-60F0-46FE-9841-7F17992169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795" y="609600"/>
            <a:ext cx="10353762" cy="342485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49216B5-E97D-4E6C-9ECE-1A912CB79C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3795" y="4204820"/>
            <a:ext cx="10353761" cy="1592186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4653684-A695-4C17-9B2B-91F96464DD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F0DBDB0-5235-4601-8F5C-2CCF9C3FDE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BC5FF29-6CBD-4616-B241-26C0434F23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B2EFD4-066F-4191-BB76-C6ACD6655F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446212" y="609600"/>
            <a:ext cx="9302752" cy="299290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1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147930C-5D2D-41D8-837E-2B91881CBE3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720644" y="3610032"/>
            <a:ext cx="8752299" cy="426812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34658D-896D-46B2-A8B0-6FB6570DA5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3794" y="4204821"/>
            <a:ext cx="10353762" cy="158638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52D1B99-5F85-4E0A-88D6-5BEB024210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AB3F99A-4462-4FB6-B782-28C4AAEF6A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B24CFF8-AF83-41DC-AE13-0DBED3A969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5240E64-502A-4440-B847-42FDCE64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12" y="735241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  <a:lvl6pPr>
              <a:buNone/>
              <a:defRPr>
                <a:solidFill>
                  <a:schemeClr val="tx2"/>
                </a:solidFill>
              </a:defRPr>
            </a:lvl6pPr>
            <a:lvl7pPr>
              <a:buNone/>
              <a:defRPr>
                <a:solidFill>
                  <a:schemeClr val="tx2"/>
                </a:solidFill>
              </a:defRPr>
            </a:lvl7pPr>
            <a:lvl8pPr>
              <a:buNone/>
              <a:defRPr>
                <a:solidFill>
                  <a:schemeClr val="tx2"/>
                </a:solidFill>
              </a:defRPr>
            </a:lvl8pPr>
            <a:lvl9pPr>
              <a:buNone/>
              <a:defRPr>
                <a:solidFill>
                  <a:schemeClr val="tx2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rPr sz="8000">
                <a:solidFill>
                  <a:schemeClr val="tx1"/>
                </a:solidFill>
              </a:rPr>
              <a:t>“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7921F00-E494-4168-9303-D18A7597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7956" y="2972093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  <a:lvl6pPr>
              <a:buNone/>
              <a:defRPr>
                <a:solidFill>
                  <a:schemeClr val="tx2"/>
                </a:solidFill>
              </a:defRPr>
            </a:lvl6pPr>
            <a:lvl7pPr>
              <a:buNone/>
              <a:defRPr>
                <a:solidFill>
                  <a:schemeClr val="tx2"/>
                </a:solidFill>
              </a:defRPr>
            </a:lvl7pPr>
            <a:lvl8pPr>
              <a:buNone/>
              <a:defRPr>
                <a:solidFill>
                  <a:schemeClr val="tx2"/>
                </a:solidFill>
              </a:defRPr>
            </a:lvl8pPr>
            <a:lvl9pPr>
              <a:buNone/>
              <a:defRPr>
                <a:solidFill>
                  <a:schemeClr val="tx2"/>
                </a:solidFill>
              </a:defRPr>
            </a:lvl9pPr>
          </a:lstStyle>
          <a:p xmlns:a="http://schemas.openxmlformats.org/drawingml/2006/main">
            <a:pPr lvl="0" algn="r">
              <a:buNone/>
            </a:pPr>
            <a:r>
              <a:rPr sz="8000">
                <a:solidFill>
                  <a:schemeClr val="tx1"/>
                </a:solidFill>
              </a:rPr>
              <a:t>”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447787-DCEB-4D96-9DB7-EE8C116238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806" y="2126942"/>
            <a:ext cx="10355327" cy="2511835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E09F245-60E4-4560-BAF1-755AE79CBC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13794" y="4650556"/>
            <a:ext cx="10353763" cy="1140644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2AAEA68-9527-4DB3-B1E5-CC64435D5B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8ADD360-5CC1-4DCE-96B1-1CD1780C8B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95F2821-702B-4A02-86FA-D7F2B9CAB7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 1">
            <a:extLst xmlns:a="http://schemas.openxmlformats.org/drawingml/2006/main">
              <a:ext uri="{FF2B5EF4-FFF2-40B4-BE49-F238E27FC236}">
                <a16:creationId xmlns:a16="http://schemas.microsoft.com/office/drawing/2014/main" id="{C4810E76-6C29-44E0-8D87-64AE8D4B06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794" y="609600"/>
            <a:ext cx="10353762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CF4FF65-FA2B-4252-9B4F-4DD0D34FB5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3794" y="2088319"/>
            <a:ext cx="3298956" cy="823305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1F50D49-DD4C-4EBF-B740-8CC5843DD1CC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913794" y="2911624"/>
            <a:ext cx="3298956" cy="2879576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B6470E3-B5C6-4595-BC00-3B18C065D3B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444878" y="2088320"/>
            <a:ext cx="3298558" cy="823304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5EACF40-A74A-47CE-8F85-00FDF076F9A4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444878" y="2911624"/>
            <a:ext cx="3299821" cy="2879576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1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1BA0B9C-7A9D-43B0-87FD-00FA6430F4D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973298" y="2088320"/>
            <a:ext cx="3291211" cy="823304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986700C-BBE3-4226-AEB9-1313324C3B23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7976346" y="2911624"/>
            <a:ext cx="3291211" cy="2879576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1438446-E1F3-45D4-8FE2-117B1C3181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1DCFAFE-1710-4BDE-85BE-C234EA8D72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7FE286C-085B-406F-80CE-7A6038FBEC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 1">
            <a:extLst xmlns:a="http://schemas.openxmlformats.org/drawingml/2006/main">
              <a:ext uri="{FF2B5EF4-FFF2-40B4-BE49-F238E27FC236}">
                <a16:creationId xmlns:a16="http://schemas.microsoft.com/office/drawing/2014/main" id="{93F9290C-D950-4DFA-BAF1-BEA1AA972D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795" y="609600"/>
            <a:ext cx="10353762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1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D325638-AF7B-4708-ADA2-F6523CA95B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3795" y="4195899"/>
            <a:ext cx="3298955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20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555FD40-B2C6-49AA-9579-8D5F20AB7A6F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1092020" y="2298987"/>
            <a:ext cx="2940050" cy="152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46050" cap="sq">
            <a:solidFill>
              <a:srgbClr val="FFFFFF"/>
            </a:solidFill>
            <a:miter/>
          </a:ln>
          <a:effectLst xmlns:a="http://schemas.openxmlformats.org/drawingml/2006/main"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Вставка рисунка</a:t>
            </a:r>
            <a:endParaRPr/>
          </a:p>
        </p:txBody>
      </p:sp>
      <p:sp>
        <p:nvSpPr>
          <p:cNvPr id="21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4B063E9-0BA4-4248-BD84-2A35AFF57F0D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913795" y="4772161"/>
            <a:ext cx="3298955" cy="101903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22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800B405-30E0-4159-A9D5-451881BE632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442701" y="4195899"/>
            <a:ext cx="329898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2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13C0D2C-64AF-40E0-94AA-3D7CF48B1665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4568996" y="2298987"/>
            <a:ext cx="2930525" cy="152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46050" cap="sq">
            <a:solidFill>
              <a:srgbClr val="FFFFFF"/>
            </a:solidFill>
            <a:miter/>
          </a:ln>
          <a:effectLst xmlns:a="http://schemas.openxmlformats.org/drawingml/2006/main"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Вставка рисунка</a:t>
            </a:r>
            <a:endParaRPr/>
          </a:p>
        </p:txBody>
      </p:sp>
      <p:sp>
        <p:nvSpPr>
          <p:cNvPr id="2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38183CC-0366-4F6E-A146-CFAB05815072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4441348" y="4772160"/>
            <a:ext cx="3300336" cy="101903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2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5F4DBDE-C4D0-4193-93AB-969AB9F29D4B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973423" y="4195899"/>
            <a:ext cx="3289900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26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16C479B-BFD3-44EC-81D0-447362BA97C9}"/>
              </a:ext>
            </a:extLst>
          </p:cNvPr>
          <p:cNvSpPr>
            <a:spLocks xmlns:a="http://schemas.openxmlformats.org/drawingml/2006/main" noGrp="1"/>
          </p:cNvSpPr>
          <p:nvPr>
            <p:ph type="pic" idx="22"/>
          </p:nvPr>
        </p:nvSpPr>
        <p:spPr>
          <a:xfrm xmlns:a="http://schemas.openxmlformats.org/drawingml/2006/main">
            <a:off x="8152803" y="2298987"/>
            <a:ext cx="2932113" cy="15240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46050" cap="sq">
            <a:solidFill>
              <a:srgbClr val="FFFFFF"/>
            </a:solidFill>
            <a:miter/>
          </a:ln>
          <a:effectLst xmlns:a="http://schemas.openxmlformats.org/drawingml/2006/main">
            <a:outerShdw blurRad="55000" dist="18000" dir="5400000" algn="tl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Вставка рисунка</a:t>
            </a:r>
            <a:endParaRPr/>
          </a:p>
        </p:txBody>
      </p:sp>
      <p:sp>
        <p:nvSpPr>
          <p:cNvPr id="27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C37E168-DCA8-4E19-9319-A51F050AD550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7973298" y="4772161"/>
            <a:ext cx="3294258" cy="1019037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9108804-01B3-4DF5-8E9C-CECD27B645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9B0DC76-6DA2-47AD-9685-5F5F7A576A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AB8B651-3A7C-4EB8-B1C3-75414D9FE5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511A28-8027-4179-BE4A-0F6C5E321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1407499-942F-46C0-8FCE-3AF8EEC3F6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9355D34-FA40-4988-9EBC-249958C262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2ECA649-8090-4382-95C7-0518B49E2E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781A60-CA55-47FC-B354-B60E2475EE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7A6574C-5596-4ED9-9FC5-54964862F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609599"/>
            <a:ext cx="2542657" cy="5181601"/>
          </a:xfrm>
        </p:spPr>
        <p:txBody>
          <a:bodyPr xmlns:a="http://schemas.openxmlformats.org/drawingml/2006/main" vert="eaVert"/>
          <a:lstStyle xmlns:a="http://schemas.openxmlformats.org/drawingml/2006/main">
            <a:lvl1pPr algn="l">
              <a:buNone/>
              <a:defRPr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D3A2F60-A855-403E-A71F-4A97391296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3794" y="609599"/>
            <a:ext cx="7658705" cy="5181601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D8B5B5A-BAFD-4389-844E-97D7398D8F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F2C0790-DFC6-4D82-97E9-8BE55699D1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733A900-1A41-4210-A5FD-73776785A8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6a0ae505a54653" /><Relationship Type="http://schemas.openxmlformats.org/officeDocument/2006/relationships/slideLayout" Target="/ppt/slideLayouts/slideLayout1.xml" Id="Rd69a4fb585984d00" /><Relationship Type="http://schemas.openxmlformats.org/officeDocument/2006/relationships/slideLayout" Target="/ppt/slideLayouts/slideLayout2.xml" Id="R10272aa960e641ca" /><Relationship Type="http://schemas.openxmlformats.org/officeDocument/2006/relationships/slideLayout" Target="/ppt/slideLayouts/slideLayout3.xml" Id="R206b59b7359c44bc" /><Relationship Type="http://schemas.openxmlformats.org/officeDocument/2006/relationships/slideLayout" Target="/ppt/slideLayouts/slideLayout4.xml" Id="Re45303eab02e4ed3" /><Relationship Type="http://schemas.openxmlformats.org/officeDocument/2006/relationships/slideLayout" Target="/ppt/slideLayouts/slideLayout5.xml" Id="R618d59436fd846a3" /><Relationship Type="http://schemas.openxmlformats.org/officeDocument/2006/relationships/slideLayout" Target="/ppt/slideLayouts/slideLayout6.xml" Id="Rff2ec377124c4adf" /><Relationship Type="http://schemas.openxmlformats.org/officeDocument/2006/relationships/slideLayout" Target="/ppt/slideLayouts/slideLayout7.xml" Id="R8ebe51ba47584bc7" /><Relationship Type="http://schemas.openxmlformats.org/officeDocument/2006/relationships/slideLayout" Target="/ppt/slideLayouts/slideLayout8.xml" Id="R02936859cfcf4a6a" /><Relationship Type="http://schemas.openxmlformats.org/officeDocument/2006/relationships/slideLayout" Target="/ppt/slideLayouts/slideLayout9.xml" Id="R61bd329d60bf42c2" /><Relationship Type="http://schemas.openxmlformats.org/officeDocument/2006/relationships/slideLayout" Target="/ppt/slideLayouts/slideLayout10.xml" Id="Raf5be607ecc240ae" /><Relationship Type="http://schemas.openxmlformats.org/officeDocument/2006/relationships/slideLayout" Target="/ppt/slideLayouts/slideLayout11.xml" Id="Rebcd3fe5841c47cd" /><Relationship Type="http://schemas.openxmlformats.org/officeDocument/2006/relationships/slideLayout" Target="/ppt/slideLayouts/slideLayout12.xml" Id="R345f393bf03040ba" /><Relationship Type="http://schemas.openxmlformats.org/officeDocument/2006/relationships/slideLayout" Target="/ppt/slideLayouts/slideLayout13.xml" Id="Rdd3ded0c2a384f47" /><Relationship Type="http://schemas.openxmlformats.org/officeDocument/2006/relationships/slideLayout" Target="/ppt/slideLayouts/slideLayout14.xml" Id="R5c3aa464a5e24a20" /><Relationship Type="http://schemas.openxmlformats.org/officeDocument/2006/relationships/slideLayout" Target="/ppt/slideLayouts/slideLayout15.xml" Id="Rfc6151292e3e4fcd" /><Relationship Type="http://schemas.openxmlformats.org/officeDocument/2006/relationships/slideLayout" Target="/ppt/slideLayouts/slideLayout16.xml" Id="R57fb84f601374801" /><Relationship Type="http://schemas.openxmlformats.org/officeDocument/2006/relationships/slideLayout" Target="/ppt/slideLayouts/slideLayout17.xml" Id="R7a4e7e3f54cf4c6a" /></Relationships>
</file>

<file path=ppt/slideMasters/slideMaster1.xml><?xml version="1.0" encoding="utf-8"?>
<p:sldMaster xmlns:p="http://schemas.openxmlformats.org/presentationml/2006/main">
  <p:cSld>
    <p:bg>
      <p:bgRef idx="1003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3F0F7C9-FCFA-4E2B-B2C0-69C6922D93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3795" y="609600"/>
            <a:ext cx="10353761" cy="13263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84CDBE-F7FF-410D-940F-09152FB181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3795" y="2096064"/>
            <a:ext cx="10353762" cy="36951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B245569-7B32-4DC4-B50A-7897659987A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678736" y="5883275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8A87A34-81AB-432B-8DAE-1953F412C126}" type="datetimeFigureOut">
              <a:t>9/4/2026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348131-E641-4ABD-A719-96EEE5E8C9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913794" y="5883275"/>
            <a:ext cx="667286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8A0D6E-86EA-4D0B-8CF8-82018B0D8B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514011" y="5883275"/>
            <a:ext cx="75354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22F896-40B5-4ADD-8801-0D06FADFA095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9a4fb585984d00"/>
    <p:sldLayoutId xmlns:r="http://schemas.openxmlformats.org/officeDocument/2006/relationships" id="2147483650" r:id="R10272aa960e641ca"/>
    <p:sldLayoutId xmlns:r="http://schemas.openxmlformats.org/officeDocument/2006/relationships" id="2147483651" r:id="R206b59b7359c44bc"/>
    <p:sldLayoutId xmlns:r="http://schemas.openxmlformats.org/officeDocument/2006/relationships" id="2147483652" r:id="Re45303eab02e4ed3"/>
    <p:sldLayoutId xmlns:r="http://schemas.openxmlformats.org/officeDocument/2006/relationships" id="2147483653" r:id="R618d59436fd846a3"/>
    <p:sldLayoutId xmlns:r="http://schemas.openxmlformats.org/officeDocument/2006/relationships" id="2147483654" r:id="Rff2ec377124c4adf"/>
    <p:sldLayoutId xmlns:r="http://schemas.openxmlformats.org/officeDocument/2006/relationships" id="2147483655" r:id="R8ebe51ba47584bc7"/>
    <p:sldLayoutId xmlns:r="http://schemas.openxmlformats.org/officeDocument/2006/relationships" id="2147483656" r:id="R02936859cfcf4a6a"/>
    <p:sldLayoutId xmlns:r="http://schemas.openxmlformats.org/officeDocument/2006/relationships" id="2147483657" r:id="R61bd329d60bf42c2"/>
    <p:sldLayoutId xmlns:r="http://schemas.openxmlformats.org/officeDocument/2006/relationships" id="2147483658" r:id="Raf5be607ecc240ae"/>
    <p:sldLayoutId xmlns:r="http://schemas.openxmlformats.org/officeDocument/2006/relationships" id="2147483659" r:id="Rebcd3fe5841c47cd"/>
    <p:sldLayoutId xmlns:r="http://schemas.openxmlformats.org/officeDocument/2006/relationships" id="2147483660" r:id="R345f393bf03040ba"/>
    <p:sldLayoutId xmlns:r="http://schemas.openxmlformats.org/officeDocument/2006/relationships" id="2147483661" r:id="Rdd3ded0c2a384f47"/>
    <p:sldLayoutId xmlns:r="http://schemas.openxmlformats.org/officeDocument/2006/relationships" id="2147483662" r:id="R5c3aa464a5e24a20"/>
    <p:sldLayoutId xmlns:r="http://schemas.openxmlformats.org/officeDocument/2006/relationships" id="2147483663" r:id="Rfc6151292e3e4fcd"/>
    <p:sldLayoutId xmlns:r="http://schemas.openxmlformats.org/officeDocument/2006/relationships" id="2147483664" r:id="R57fb84f601374801"/>
    <p:sldLayoutId xmlns:r="http://schemas.openxmlformats.org/officeDocument/2006/relationships" id="2147483665" r:id="R7a4e7e3f54cf4c6a"/>
  </p:sldLayoutIdLst>
  <p:txStyles>
    <p:titleStyle>
      <a:lvl1pPr xmlns:a="http://schemas.openxmlformats.org/drawingml/2006/main" algn="ctr" defTabSz="914400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20000"/>
        </a:lnSpc>
        <a:spcBef>
          <a:spcPts val="1000"/>
        </a:spcBef>
        <a:buFont typeface="Arial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120000"/>
        </a:lnSpc>
        <a:spcBef>
          <a:spcPts val="500"/>
        </a:spcBef>
        <a:buFont typeface="Arial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8346F"/>
      </a:dk2>
      <a:lt2>
        <a:srgbClr val="D9A8D2"/>
      </a:lt2>
      <a:accent1>
        <a:srgbClr val="CE57AB"/>
      </a:accent1>
      <a:accent2>
        <a:srgbClr val="8E8EFD"/>
      </a:accent2>
      <a:accent3>
        <a:srgbClr val="7CBCE0"/>
      </a:accent3>
      <a:accent4>
        <a:srgbClr val="70BF9F"/>
      </a:accent4>
      <a:accent5>
        <a:srgbClr val="A5B960"/>
      </a:accent5>
      <a:accent6>
        <a:srgbClr val="D47A57"/>
      </a:accent6>
      <a:hlink>
        <a:srgbClr val="D164DE"/>
      </a:hlink>
      <a:folHlink>
        <a:srgbClr val="BE87C4"/>
      </a:folHlink>
    </a:clrScheme>
    <a:fontScheme name="Damask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lumMod val="110000"/>
                <a:satMod val="105000"/>
              </a:schemeClr>
            </a:gs>
            <a:gs pos="100000">
              <a:schemeClr val="phClr">
                <a:tint val="78000"/>
                <a:lumMod val="100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4000"/>
                <a:satMod val="100000"/>
              </a:schemeClr>
            </a:gs>
            <a:gs pos="69000">
              <a:schemeClr val="phClr">
                <a:shade val="86000"/>
                <a:lumMod val="102000"/>
                <a:satMod val="130000"/>
              </a:schemeClr>
            </a:gs>
            <a:gs pos="100000">
              <a:schemeClr val="phClr">
                <a:shade val="72000"/>
                <a:lumMod val="100000"/>
                <a:satMod val="13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lt2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017c887bc4b4c" /><Relationship Type="http://schemas.openxmlformats.org/officeDocument/2006/relationships/notesSlide" Target="/ppt/notesSlides/notesSlide1.xml" Id="R6720a640ff3347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3b5061c27f4ba7" /><Relationship Type="http://schemas.openxmlformats.org/officeDocument/2006/relationships/notesSlide" Target="/ppt/notesSlides/notesSlide2.xml" Id="R7e2a939d1c6e48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4b7f23a09448b3" /><Relationship Type="http://schemas.openxmlformats.org/officeDocument/2006/relationships/notesSlide" Target="/ppt/notesSlides/notesSlide3.xml" Id="R01f62468df944d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08fb4b4db44e6d" /><Relationship Type="http://schemas.openxmlformats.org/officeDocument/2006/relationships/notesSlide" Target="/ppt/notesSlides/notesSlide4.xml" Id="Rdb7d8213a43349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c96abbfc3c4ba3" /><Relationship Type="http://schemas.openxmlformats.org/officeDocument/2006/relationships/notesSlide" Target="/ppt/notesSlides/notesSlide5.xml" Id="R10a6ac34576f42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756BDCF-B00F-F01F-D413-31D5FC2EA89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Fit Nutrition Supply</a:t>
            </a:r>
            <a:endParaRPr/>
          </a:p>
        </p:txBody>
      </p:sp>
      <p:sp>
        <p:nvSpPr>
          <p:cNvPr id="3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568EA80D-C628-02A2-DA2C-2ACF18B695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ctr">
              <a:defRPr sz="210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Планирование питания и покупок</a:t>
            </a:r>
          </a:p>
          <a:p xmlns:a="http://schemas.openxmlformats.org/drawingml/2006/main">
            <a:pPr algn="ctr"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Чипига Алексей Александрович</a:t>
            </a:r>
          </a:p>
          <a:p xmlns:a="http://schemas.openxmlformats.org/drawingml/2006/main">
            <a:pPr algn="ctr"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Фазлыев А. А. • Б23-191-2</a:t>
            </a:r>
          </a:p>
        </p:txBody>
      </p:sp>
    </p:spTree>
    <p:extLst>
      <p:ext uri="{BB962C8B-B14F-4D97-AF65-F5344CB8AC3E}">
        <p14:creationId xmlns:p14="http://schemas.microsoft.com/office/powerpoint/2010/main" val="14057255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C1F6CBD-7856-1CFF-30D3-B2D70793F6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74200D00-7785-C248-B787-C44D61821C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 lnSpcReduction="10000"/>
          </a:bodyPr>
          <a:lstStyle xmlns:a="http://schemas.openxmlformats.org/drawingml/2006/main">
            <a:defPPr algn="l">
              <a:defRPr sz="210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0" indent="0" algn="l">
              <a:buNone/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Меню, продукты и бюджет приходится планировать отдельно.</a:t>
            </a:r>
          </a:p>
          <a:p xmlns:a="http://schemas.openxmlformats.org/drawingml/2006/main">
            <a:pPr algn="l"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Как подобрать знакомые блюда под свои цели и предпочтения?</a:t>
            </a:r>
          </a:p>
          <a:p xmlns:a="http://schemas.openxmlformats.org/drawingml/2006/main">
            <a:pPr algn="l"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Как объединить продукты в один список покупок?</a:t>
            </a:r>
          </a:p>
          <a:p xmlns:a="http://schemas.openxmlformats.org/drawingml/2006/main">
            <a:pPr algn="l"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Где выгоднее купить всю корзину, а не отдельный товар?</a:t>
            </a:r>
          </a:p>
          <a:p xmlns:a="http://schemas.openxmlformats.org/drawingml/2006/main">
            <a:pPr algn="l"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Нужно 700 г, упаковка 500 г: придётся купить две.</a:t>
            </a:r>
          </a:p>
        </p:txBody>
      </p:sp>
    </p:spTree>
    <p:extLst>
      <p:ext uri="{BB962C8B-B14F-4D97-AF65-F5344CB8AC3E}">
        <p14:creationId xmlns:p14="http://schemas.microsoft.com/office/powerpoint/2010/main" val="41252949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283C834A-D805-7D05-0C35-A4E4FE4D51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Решение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EE56586A-B064-5DFD-C250-666D608C267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 lnSpcReduction="10000"/>
          </a:bodyPr>
          <a:lstStyle xmlns:a="http://schemas.openxmlformats.org/drawingml/2006/main">
            <a:defPPr algn="l">
              <a:defRPr sz="19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0" indent="0" algn="l">
              <a:buNone/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Меню от недели до месяца: цели, порции, предпочтения</a:t>
            </a:r>
          </a:p>
          <a:p xmlns:a="http://schemas.openxmlformats.org/drawingml/2006/main">
            <a:pPr algn="l"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Общий список продуктов с учётом домашних запасов</a:t>
            </a:r>
          </a:p>
          <a:p xmlns:a="http://schemas.openxmlformats.org/drawingml/2006/main">
            <a:pPr algn="l"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Сравнение полной корзины: упаковки, цены и доставка</a:t>
            </a:r>
          </a:p>
          <a:p xmlns:a="http://schemas.openxmlformats.org/drawingml/2006/main">
            <a:pPr algn="l"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Замена блюда с пересчётом продуктов и расходов</a:t>
            </a:r>
          </a:p>
          <a:p xmlns:a="http://schemas.openxmlformats.org/drawingml/2006/main">
            <a:pPr algn="l"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ИИ для анализа рациона и объяснения вариантов</a:t>
            </a:r>
          </a:p>
          <a:p xmlns:a="http://schemas.openxmlformats.org/drawingml/2006/main">
            <a:pPr algn="l"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Планируется получение цен из онлайн-магазинов</a:t>
            </a:r>
          </a:p>
          <a:p xmlns:a="http://schemas.openxmlformats.org/drawingml/2006/main">
            <a:pPr algn="l"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Начало: один источник; далее расширение по доступности</a:t>
            </a:r>
          </a:p>
        </p:txBody>
      </p:sp>
    </p:spTree>
    <p:extLst>
      <p:ext uri="{BB962C8B-B14F-4D97-AF65-F5344CB8AC3E}">
        <p14:creationId xmlns:p14="http://schemas.microsoft.com/office/powerpoint/2010/main" val="31244213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ECEE5C1-FB1F-8EC2-A940-47AB98A7B5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ctr">
              <a:defRPr sz="34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3400" b="1">
                <a:solidFill>
                  <a:srgbClr val="FFFFFF"/>
                </a:solidFill>
              </a:defRPr>
            </a:pPr>
            <a:r>
              <a:rPr sz="3400" b="1">
                <a:solidFill>
                  <a:srgbClr val="FFFFFF"/>
                </a:solidFill>
              </a:rPr>
              <a:t>Целевая аудитория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F7C18DD-2F5C-79F0-C5C1-F58A128BBD2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l">
              <a:defRPr sz="210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457200" indent="-457200" algn="l">
              <a:buFont typeface="+mj-lt"/>
              <a:buAutoNum type="arabicPeriod"/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Люди, которые планируют питание для себя или семьи</a:t>
            </a:r>
          </a:p>
          <a:p xmlns:a="http://schemas.openxmlformats.org/drawingml/2006/main">
            <a:pPr marL="457200" indent="-457200" algn="l">
              <a:buFont typeface="+mj-lt"/>
              <a:buAutoNum type="arabicPeriod"/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Пользователи, которым важны рацион и бюджет</a:t>
            </a:r>
          </a:p>
          <a:p xmlns:a="http://schemas.openxmlformats.org/drawingml/2006/main">
            <a:pPr marL="457200" indent="-457200" algn="l">
              <a:buFont typeface="+mj-lt"/>
              <a:buAutoNum type="arabicPeriod"/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Те, кто отвечает за покупку продуктов в домохозяйстве</a:t>
            </a:r>
          </a:p>
          <a:p xmlns:a="http://schemas.openxmlformats.org/drawingml/2006/main">
            <a:pPr marL="457200" indent="-457200" algn="l">
              <a:buFont typeface="+mj-lt"/>
              <a:buAutoNum type="arabicPeriod"/>
              <a:defRPr sz="2100">
                <a:solidFill>
                  <a:srgbClr val="FFFFFF"/>
                </a:solidFill>
              </a:defRPr>
            </a:pPr>
            <a:r>
              <a:rPr sz="2100">
                <a:solidFill>
                  <a:srgbClr val="FFFFFF"/>
                </a:solidFill>
              </a:rPr>
              <a:t>Сценарий: вводные, меню, список, сравнение корзин</a:t>
            </a:r>
          </a:p>
        </p:txBody>
      </p:sp>
    </p:spTree>
    <p:extLst>
      <p:ext uri="{BB962C8B-B14F-4D97-AF65-F5344CB8AC3E}">
        <p14:creationId xmlns:p14="http://schemas.microsoft.com/office/powerpoint/2010/main" val="23651332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336BC14-2B99-2891-9D97-984222DE24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6F19007E-D424-CF74-8568-20E737B3F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0" indent="0" algn="l"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Чипига Алексей Александрович</a:t>
            </a:r>
          </a:p>
          <a:p xmlns:a="http://schemas.openxmlformats.org/drawingml/2006/main">
            <a:pPr marL="0" indent="0" algn="l"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Фазлыев А. А.</a:t>
            </a:r>
          </a:p>
          <a:p xmlns:a="http://schemas.openxmlformats.org/drawingml/2006/main">
            <a:pPr marL="0" indent="0" algn="l"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Группа Б23-191-2</a:t>
            </a:r>
          </a:p>
          <a:p xmlns:a="http://schemas.openxmlformats.org/drawingml/2006/main">
            <a:pPr marL="0" indent="0">
              <a:buNone/>
            </a:pPr>
            <a:r>
              <a:t/>
            </a:r>
          </a:p>
          <a:p xmlns:a="http://schemas.openxmlformats.org/drawingml/2006/main">
            <a:pPr marL="0" indent="0" algn="l"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Концепция проекта Fit Nutrition Supply</a:t>
            </a:r>
          </a:p>
        </p:txBody>
      </p:sp>
    </p:spTree>
    <p:extLst>
      <p:ext uri="{BB962C8B-B14F-4D97-AF65-F5344CB8AC3E}">
        <p14:creationId xmlns:p14="http://schemas.microsoft.com/office/powerpoint/2010/main" val="3971648947"/>
      </p:ext>
    </p:extLst>
  </p:cSld>
</p:sld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8346F"/>
      </a:dk2>
      <a:lt2>
        <a:srgbClr val="D9A8D2"/>
      </a:lt2>
      <a:accent1>
        <a:srgbClr val="CE57AB"/>
      </a:accent1>
      <a:accent2>
        <a:srgbClr val="8E8EFD"/>
      </a:accent2>
      <a:accent3>
        <a:srgbClr val="7CBCE0"/>
      </a:accent3>
      <a:accent4>
        <a:srgbClr val="70BF9F"/>
      </a:accent4>
      <a:accent5>
        <a:srgbClr val="A5B960"/>
      </a:accent5>
      <a:accent6>
        <a:srgbClr val="D47A57"/>
      </a:accent6>
      <a:hlink>
        <a:srgbClr val="D164DE"/>
      </a:hlink>
      <a:folHlink>
        <a:srgbClr val="BE87C4"/>
      </a:folHlink>
    </a:clrScheme>
    <a:fontScheme name="Damask">
      <a:majorFont>
        <a:latin typeface="Bookman Old Styl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lumMod val="110000"/>
                <a:satMod val="105000"/>
              </a:schemeClr>
            </a:gs>
            <a:gs pos="100000">
              <a:schemeClr val="phClr">
                <a:tint val="78000"/>
                <a:lumMod val="100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4000"/>
                <a:satMod val="100000"/>
              </a:schemeClr>
            </a:gs>
            <a:gs pos="69000">
              <a:schemeClr val="phClr">
                <a:shade val="86000"/>
                <a:lumMod val="102000"/>
                <a:satMod val="130000"/>
              </a:schemeClr>
            </a:gs>
            <a:gs pos="100000">
              <a:schemeClr val="phClr">
                <a:shade val="72000"/>
                <a:lumMod val="100000"/>
                <a:satMod val="13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lt2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2026-10-08T19:49:04.7160000Z</dcterms:created>
  <dcterms:modified xsi:type="dcterms:W3CDTF">2026-10-08T19:49:04.7160000Z</dcterms:modified>
</coreProperties>
</file>